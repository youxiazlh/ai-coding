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9" r:id="rId5"/>
    <p:sldId id="258" r:id="rId6"/>
    <p:sldId id="259" r:id="rId7"/>
    <p:sldId id="260" r:id="rId8"/>
    <p:sldId id="261" r:id="rId9"/>
    <p:sldId id="262" r:id="rId10"/>
    <p:sldId id="264" r:id="rId11"/>
    <p:sldId id="266" r:id="rId12"/>
    <p:sldId id="271" r:id="rId13"/>
    <p:sldId id="272" r:id="rId14"/>
    <p:sldId id="273" r:id="rId15"/>
    <p:sldId id="274" r:id="rId16"/>
    <p:sldId id="275" r:id="rId17"/>
    <p:sldId id="276" r:id="rId18"/>
    <p:sldId id="281" r:id="rId19"/>
    <p:sldId id="270" r:id="rId20"/>
    <p:sldId id="268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/>
              <a:t>Vibe Coding × MCP × Skill</a:t>
            </a:r>
            <a:endParaRPr sz="4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/>
              <a:t>从‘能用 AI 写代码’到‘系统化产出’</a:t>
            </a:r>
            <a:endParaRPr sz="2000"/>
          </a:p>
          <a:p>
            <a:r>
              <a:rPr sz="2000"/>
              <a:t>分享人：</a:t>
            </a:r>
            <a:r>
              <a:rPr lang="zh-CN" sz="2000"/>
              <a:t>赵龙辉</a:t>
            </a:r>
            <a:r>
              <a:rPr sz="2000"/>
              <a:t>  |  日期：2026-03-24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目录</a:t>
            </a:r>
            <a:endParaRPr sz="3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1. 什么是 Vibe Coding</a:t>
            </a:r>
            <a:endParaRPr sz="2200"/>
          </a:p>
          <a:p>
            <a:r>
              <a:rPr sz="2200"/>
              <a:t>2. 为什么现在必须掌握 MCP</a:t>
            </a:r>
            <a:endParaRPr sz="2200"/>
          </a:p>
          <a:p>
            <a:r>
              <a:rPr sz="2200"/>
              <a:t>3. Skill 能力模型与成长路径</a:t>
            </a:r>
            <a:endParaRPr sz="2200"/>
          </a:p>
          <a:p>
            <a:r>
              <a:rPr sz="2200"/>
              <a:t>4. 一套可落地的</a:t>
            </a:r>
            <a:r>
              <a:rPr lang="zh-CN" sz="2200"/>
              <a:t>项目</a:t>
            </a:r>
            <a:r>
              <a:rPr sz="2200"/>
              <a:t>实践</a:t>
            </a:r>
            <a:endParaRPr sz="2200"/>
          </a:p>
          <a:p>
            <a:r>
              <a:rPr sz="2200">
                <a:sym typeface="+mn-ea"/>
              </a:rPr>
              <a:t>5. 风险、治理与行动计划</a:t>
            </a:r>
            <a:endParaRPr sz="2200"/>
          </a:p>
          <a:p>
            <a:r>
              <a:rPr lang="en-US" sz="2200"/>
              <a:t>6.</a:t>
            </a:r>
            <a:r>
              <a:rPr lang="zh-CN" altLang="en-US" sz="2200"/>
              <a:t>以</a:t>
            </a:r>
            <a:r>
              <a:rPr lang="en-US" altLang="zh-CN" sz="2200"/>
              <a:t>godot</a:t>
            </a:r>
            <a:r>
              <a:rPr lang="zh-CN" altLang="en-US" sz="2200"/>
              <a:t>进行游戏开发的项目实践</a:t>
            </a:r>
            <a:endParaRPr sz="2200"/>
          </a:p>
          <a:p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核心定义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100"/>
              <a:t>Vibe Coding：LLM 驱动的快速编码 + 迭代 + 验证循环</a:t>
            </a:r>
            <a:endParaRPr sz="2100"/>
          </a:p>
          <a:p>
            <a:r>
              <a:rPr sz="2100"/>
              <a:t>MCP：模型通过标准协议调用工具与上下文服务</a:t>
            </a:r>
            <a:endParaRPr sz="2100"/>
          </a:p>
          <a:p>
            <a:r>
              <a:rPr sz="2100"/>
              <a:t>Skill：团队将 AI 产出转化为工程资产的能力集合</a:t>
            </a:r>
            <a:endParaRPr sz="2100"/>
          </a:p>
          <a:p>
            <a:r>
              <a:rPr sz="2100"/>
              <a:t>结论：三者组合才形成稳定生产力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什么是 Vibe Coding</a:t>
            </a:r>
            <a:endParaRPr sz="3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定义：用自然语言驱动 AI 快速完成编码、调试与迭代</a:t>
            </a:r>
            <a:endParaRPr sz="2200"/>
          </a:p>
          <a:p>
            <a:r>
              <a:rPr sz="2200"/>
              <a:t>核心价值：更快试错、更低门槛、更强反馈闭环</a:t>
            </a:r>
            <a:endParaRPr sz="2200"/>
          </a:p>
          <a:p>
            <a:r>
              <a:rPr sz="2200"/>
              <a:t>不是替代工程能力，而是放大工程能力</a:t>
            </a:r>
            <a:endParaRPr sz="2200"/>
          </a:p>
          <a:p>
            <a:r>
              <a:rPr sz="2200"/>
              <a:t>结果导向：从‘写代码’转向‘交付价值’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Vibe Coding 的边界</a:t>
            </a:r>
            <a:endParaRPr sz="3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适合：原型、脚手架、重复性逻辑、文档与测试补全</a:t>
            </a:r>
            <a:endParaRPr sz="2200"/>
          </a:p>
          <a:p>
            <a:r>
              <a:rPr sz="2200"/>
              <a:t>谨慎：高风险交易、核心安全模块、强合规场景</a:t>
            </a:r>
            <a:endParaRPr sz="2200"/>
          </a:p>
          <a:p>
            <a:r>
              <a:rPr sz="2200"/>
              <a:t>原则：AI 负责速度，人类负责正确性与责任</a:t>
            </a:r>
            <a:endParaRPr sz="2200"/>
          </a:p>
          <a:p>
            <a:r>
              <a:rPr sz="2200"/>
              <a:t>关键动作：明确约束、缩小任务、快速验证</a:t>
            </a:r>
            <a:endParaRPr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MCP 是什么</a:t>
            </a:r>
            <a:endParaRPr sz="3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MCP（Model Context Protocol）：</a:t>
            </a:r>
            <a:r>
              <a:rPr lang="zh-CN" altLang="en-US" sz="2200"/>
              <a:t>是一种开放协议，通过标准化的服务器实现，使</a:t>
            </a:r>
            <a:r>
              <a:rPr lang="en-US" altLang="zh-CN" sz="2200"/>
              <a:t> AI </a:t>
            </a:r>
            <a:r>
              <a:rPr lang="zh-CN" altLang="en-US" sz="2200"/>
              <a:t>模型能够安全地与本地和远程资源进行交互。</a:t>
            </a:r>
            <a:r>
              <a:rPr lang="zh-CN" altLang="en-US" sz="2200"/>
              <a:t>如通过文件访问、数据库连接、</a:t>
            </a:r>
            <a:r>
              <a:rPr lang="en-US" altLang="zh-CN" sz="2200"/>
              <a:t>API </a:t>
            </a:r>
            <a:r>
              <a:rPr lang="zh-CN" altLang="en-US" sz="2200"/>
              <a:t>集成和其他上下文服务来扩展</a:t>
            </a:r>
            <a:r>
              <a:rPr lang="en-US" altLang="zh-CN" sz="2200"/>
              <a:t> AI </a:t>
            </a:r>
            <a:r>
              <a:rPr lang="zh-CN" altLang="en-US" sz="2200"/>
              <a:t>功能。</a:t>
            </a:r>
            <a:endParaRPr lang="zh-CN" altLang="en-US" sz="2200"/>
          </a:p>
          <a:p>
            <a:r>
              <a:rPr sz="2200"/>
              <a:t>本质：给 AI 增加‘手和眼’，而不只是‘大脑’</a:t>
            </a:r>
            <a:endParaRPr sz="2200"/>
          </a:p>
          <a:p>
            <a:r>
              <a:rPr sz="2200"/>
              <a:t>统一接口：文件系统、数据库、API、Issue/PR 平台</a:t>
            </a:r>
            <a:endParaRPr sz="2200"/>
          </a:p>
          <a:p>
            <a:r>
              <a:rPr sz="2200"/>
              <a:t>价值：减少上下文丢失，提升自动化与可审计性</a:t>
            </a:r>
            <a:endParaRPr sz="2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为什么 MCP 很关键</a:t>
            </a:r>
            <a:endParaRPr sz="3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从单轮问答升级为多步骤执行</a:t>
            </a:r>
            <a:endParaRPr sz="2200"/>
          </a:p>
          <a:p>
            <a:r>
              <a:rPr sz="2200"/>
              <a:t>从‘建议代码’升级为‘直接完成任务’</a:t>
            </a:r>
            <a:endParaRPr sz="2200"/>
          </a:p>
          <a:p>
            <a:r>
              <a:rPr sz="2200"/>
              <a:t>把分散工具串成可复用工作流</a:t>
            </a:r>
            <a:endParaRPr sz="2200"/>
          </a:p>
          <a:p>
            <a:r>
              <a:rPr sz="2200"/>
              <a:t>让个人效率提升扩展到团队效率提升</a:t>
            </a:r>
            <a:endParaRPr sz="2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400"/>
              <a:t>Skill：</a:t>
            </a:r>
            <a:r>
              <a:rPr lang="zh-CN" altLang="en-US" sz="3400"/>
              <a:t>教</a:t>
            </a:r>
            <a:r>
              <a:rPr lang="en-US" altLang="zh-CN" sz="3400"/>
              <a:t> AI </a:t>
            </a:r>
            <a:r>
              <a:rPr lang="zh-CN" altLang="en-US" sz="3400"/>
              <a:t>按固定流程做事的操作说明书</a:t>
            </a:r>
            <a:endParaRPr lang="zh-CN" altLang="en-US" sz="34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0500" y="1417955"/>
            <a:ext cx="5073650" cy="16713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00" y="3226435"/>
            <a:ext cx="6118860" cy="3375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一套落地流程</a:t>
            </a:r>
            <a:endParaRPr sz="3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Step 1：定义目标与验收（</a:t>
            </a:r>
            <a:r>
              <a:rPr lang="en-US" altLang="zh-CN" sz="2200"/>
              <a:t>Definition of Done</a:t>
            </a:r>
            <a:r>
              <a:rPr sz="2200"/>
              <a:t>）</a:t>
            </a:r>
            <a:endParaRPr sz="2200"/>
          </a:p>
          <a:p>
            <a:r>
              <a:rPr sz="2200"/>
              <a:t>Step 2：让 AI 产出方案 + 风险清单</a:t>
            </a:r>
            <a:endParaRPr sz="2200"/>
          </a:p>
          <a:p>
            <a:r>
              <a:rPr sz="2200"/>
              <a:t>Step 3：小步实现 + 自动化验证</a:t>
            </a:r>
            <a:endParaRPr sz="2200"/>
          </a:p>
          <a:p>
            <a:r>
              <a:rPr sz="2200"/>
              <a:t>Step 4：Code Review + 文档沉淀</a:t>
            </a:r>
            <a:endParaRPr sz="2200"/>
          </a:p>
          <a:p>
            <a:r>
              <a:rPr sz="2200"/>
              <a:t>Step 5：复盘并更新团队 Skill 模板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风险与治理</a:t>
            </a:r>
            <a:endParaRPr sz="3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/>
              <a:t>风险：幻觉、过度自动化、隐私与合规</a:t>
            </a:r>
            <a:endParaRPr sz="2200"/>
          </a:p>
          <a:p>
            <a:r>
              <a:rPr sz="2200"/>
              <a:t>治理：最小权限、日志留痕、关键路径人工审批</a:t>
            </a:r>
            <a:endParaRPr sz="2200"/>
          </a:p>
          <a:p>
            <a:r>
              <a:rPr sz="2200"/>
              <a:t>质量线：测试覆盖、静态检查、发布闸门</a:t>
            </a:r>
            <a:endParaRPr sz="2200"/>
          </a:p>
          <a:p>
            <a:r>
              <a:rPr sz="2200"/>
              <a:t>建议：建立‘AI 产出可追溯’机制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>
              <a:buClrTx/>
              <a:buSzTx/>
              <a:buFontTx/>
            </a:pPr>
            <a:r>
              <a:rPr sz="3400">
                <a:sym typeface="+mn-ea"/>
              </a:rPr>
              <a:t>godot进行游戏开发的项目实践</a:t>
            </a:r>
            <a:endParaRPr sz="3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marL="0" indent="0" algn="l">
              <a:buClrTx/>
              <a:buSzTx/>
              <a:buNone/>
            </a:pPr>
            <a:r>
              <a:rPr lang="en-US" altLang="zh-CN" sz="2200"/>
              <a:t>AI </a:t>
            </a:r>
            <a:r>
              <a:rPr lang="zh-CN" altLang="en-US" sz="2200"/>
              <a:t>组件版图</a:t>
            </a:r>
            <a:endParaRPr lang="zh-CN" altLang="en-US" sz="2200"/>
          </a:p>
          <a:p>
            <a:pPr algn="l">
              <a:buClrTx/>
              <a:buSzTx/>
            </a:pPr>
            <a:r>
              <a:rPr sz="2200"/>
              <a:t>Agent 层（角色专家）：位于 `.copilot/agents/`，覆盖设计、程序、QA、发布等</a:t>
            </a:r>
            <a:endParaRPr sz="2200"/>
          </a:p>
          <a:p>
            <a:pPr algn="l">
              <a:buClrTx/>
              <a:buSzTx/>
            </a:pPr>
            <a:r>
              <a:rPr sz="2200"/>
              <a:t>Skills 层（可复用流程）：位于 `.github/skills/`，以命令驱动标准工作法</a:t>
            </a:r>
            <a:endParaRPr sz="2200"/>
          </a:p>
          <a:p>
            <a:pPr algn="l">
              <a:buClrTx/>
              <a:buSzTx/>
            </a:pPr>
            <a:r>
              <a:rPr sz="2200"/>
              <a:t>Guide 层（全局方法）：`docs/WORKFLOW-GUIDE.md`明确了 “48-agent system + 37 slash commands + hooks”</a:t>
            </a:r>
            <a:endParaRPr sz="2200"/>
          </a:p>
          <a:p>
            <a:pPr algn="l">
              <a:buClrTx/>
              <a:buSzTx/>
            </a:pPr>
            <a:r>
              <a:rPr sz="2200"/>
              <a:t>Project Config 层：`COPILOT.md` + engine reference + production 文档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381760" y="890270"/>
            <a:ext cx="698182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Tier 1 — Directors (Opus)</a:t>
            </a:r>
            <a:endParaRPr lang="en-US" altLang="zh-CN"/>
          </a:p>
          <a:p>
            <a:r>
              <a:rPr lang="en-US" altLang="zh-CN"/>
              <a:t>  creative-director    technical-director    producer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Tier 2 — Department Leads (Sonnet)</a:t>
            </a:r>
            <a:endParaRPr lang="en-US" altLang="zh-CN"/>
          </a:p>
          <a:p>
            <a:r>
              <a:rPr lang="en-US" altLang="zh-CN"/>
              <a:t>  game-designer        lead-programmer       art-director</a:t>
            </a:r>
            <a:endParaRPr lang="en-US" altLang="zh-CN"/>
          </a:p>
          <a:p>
            <a:r>
              <a:rPr lang="en-US" altLang="zh-CN"/>
              <a:t>  audio-director       narrative-director    qa-lead</a:t>
            </a:r>
            <a:endParaRPr lang="en-US" altLang="zh-CN"/>
          </a:p>
          <a:p>
            <a:r>
              <a:rPr lang="en-US" altLang="zh-CN"/>
              <a:t>  release-manager      localization-lead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Tier 3 — Specialists (Sonnet/Haiku)</a:t>
            </a:r>
            <a:endParaRPr lang="en-US" altLang="zh-CN"/>
          </a:p>
          <a:p>
            <a:r>
              <a:rPr lang="en-US" altLang="zh-CN"/>
              <a:t>  gameplay-programmer  engine-programmer     ai-programmer</a:t>
            </a:r>
            <a:endParaRPr lang="en-US" altLang="zh-CN"/>
          </a:p>
          <a:p>
            <a:r>
              <a:rPr lang="en-US" altLang="zh-CN"/>
              <a:t>  network-programmer   tools-programmer      ui-programmer</a:t>
            </a:r>
            <a:endParaRPr lang="en-US" altLang="zh-CN"/>
          </a:p>
          <a:p>
            <a:r>
              <a:rPr lang="en-US" altLang="zh-CN"/>
              <a:t>  systems-designer     level-designer        economy-designer</a:t>
            </a:r>
            <a:endParaRPr lang="en-US" altLang="zh-CN"/>
          </a:p>
          <a:p>
            <a:r>
              <a:rPr lang="en-US" altLang="zh-CN"/>
              <a:t>  technical-artist     sound-designer        writer</a:t>
            </a:r>
            <a:endParaRPr lang="en-US" altLang="zh-CN"/>
          </a:p>
          <a:p>
            <a:r>
              <a:rPr lang="en-US" altLang="zh-CN"/>
              <a:t>  world-builder        ux-designer           prototyper</a:t>
            </a:r>
            <a:endParaRPr lang="en-US" altLang="zh-CN"/>
          </a:p>
          <a:p>
            <a:r>
              <a:rPr lang="en-US" altLang="zh-CN"/>
              <a:t>  performance-analyst  devops-engineer       analytics-engineer</a:t>
            </a:r>
            <a:endParaRPr lang="en-US" altLang="zh-CN"/>
          </a:p>
          <a:p>
            <a:r>
              <a:rPr lang="en-US" altLang="zh-CN"/>
              <a:t>  security-engineer    qa-tester             accessibility-specialist</a:t>
            </a:r>
            <a:endParaRPr lang="en-US" altLang="zh-CN"/>
          </a:p>
          <a:p>
            <a:r>
              <a:rPr lang="en-US" altLang="zh-CN"/>
              <a:t>  live-ops-designer    community-manager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751455" y="30924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agent</a:t>
            </a:r>
            <a:r>
              <a:rPr lang="en-US" altLang="zh-CN"/>
              <a:t>s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79120" y="1644015"/>
            <a:ext cx="7985125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Reviews &amp; Analysis /design-review /code-review /balance-check /asset-audit /scope-check /perf-profile /tech-debt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Production /sprint-plan /milestone-review /estimate /retrospective /bug-report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Project Management /start /project-stage-detect /reverse-document /gate-check /map-systems /design-system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Release /release-checklist /launch-checklist /changelog /patch-notes /hotfix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Creative /brainstorm /playtest-report /prototype /onboard /localize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Team Orchestration (coordinate multiple agents on a single feature) /team-combat /team-narrative /team-ui /team-release /team-polish /team-audio /team-level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3048000" y="67564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skills</a:t>
            </a:r>
            <a:endParaRPr lang="en-US" altLang="zh-C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03910" y="1372235"/>
            <a:ext cx="7688580" cy="3888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开发时间线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`/start`</a:t>
            </a:r>
            <a:r>
              <a:rPr lang="zh-CN" altLang="en-US"/>
              <a:t>：判定为</a:t>
            </a:r>
            <a:r>
              <a:rPr lang="en-US" altLang="zh-CN"/>
              <a:t>“</a:t>
            </a:r>
            <a:r>
              <a:rPr lang="zh-CN" altLang="en-US"/>
              <a:t>全新模板状态</a:t>
            </a:r>
            <a:r>
              <a:rPr lang="en-US" altLang="zh-CN"/>
              <a:t>”</a:t>
            </a:r>
            <a:r>
              <a:rPr lang="zh-CN" altLang="en-US"/>
              <a:t>，明确路径与下一步</a:t>
            </a:r>
            <a:endParaRPr lang="zh-CN" altLang="en-US"/>
          </a:p>
          <a:p>
            <a:r>
              <a:rPr lang="en-US" altLang="zh-CN"/>
              <a:t>- `/brainstorm </a:t>
            </a:r>
            <a:r>
              <a:rPr lang="zh-CN" altLang="en-US"/>
              <a:t>三国</a:t>
            </a:r>
            <a:r>
              <a:rPr lang="en-US" altLang="zh-CN"/>
              <a:t> </a:t>
            </a:r>
            <a:r>
              <a:rPr lang="zh-CN" altLang="en-US"/>
              <a:t>自走棋</a:t>
            </a:r>
            <a:r>
              <a:rPr lang="en-US" altLang="zh-CN"/>
              <a:t> </a:t>
            </a:r>
            <a:r>
              <a:rPr lang="zh-CN" altLang="en-US"/>
              <a:t>单机</a:t>
            </a:r>
            <a:r>
              <a:rPr lang="en-US" altLang="zh-CN"/>
              <a:t>`</a:t>
            </a:r>
            <a:r>
              <a:rPr lang="zh-CN" altLang="en-US"/>
              <a:t>：产出并落地</a:t>
            </a:r>
            <a:r>
              <a:rPr lang="en-US" altLang="zh-CN"/>
              <a:t> `design/gdd/game-concept.md`</a:t>
            </a:r>
            <a:endParaRPr lang="en-US" altLang="zh-CN"/>
          </a:p>
          <a:p>
            <a:r>
              <a:rPr lang="en-US" altLang="zh-CN"/>
              <a:t>- `/setup-engine godot 4.6`</a:t>
            </a:r>
            <a:r>
              <a:rPr lang="zh-CN" altLang="en-US"/>
              <a:t>：补齐</a:t>
            </a:r>
            <a:r>
              <a:rPr lang="en-US" altLang="zh-CN"/>
              <a:t> `COPILOT.md`</a:t>
            </a:r>
            <a:r>
              <a:rPr lang="zh-CN" altLang="en-US"/>
              <a:t>、技术偏好与版本参考</a:t>
            </a:r>
            <a:endParaRPr lang="zh-CN" altLang="en-US"/>
          </a:p>
          <a:p>
            <a:r>
              <a:rPr lang="en-US" altLang="zh-CN"/>
              <a:t>- `/map-systems`</a:t>
            </a:r>
            <a:r>
              <a:rPr lang="zh-CN" altLang="en-US"/>
              <a:t>：生成</a:t>
            </a:r>
            <a:r>
              <a:rPr lang="en-US" altLang="zh-CN"/>
              <a:t> `design/gdd/systems-index.md` </a:t>
            </a:r>
            <a:r>
              <a:rPr lang="zh-CN" altLang="en-US"/>
              <a:t>与会话状态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后续进入</a:t>
            </a:r>
            <a:r>
              <a:rPr lang="en-US" altLang="zh-CN"/>
              <a:t> sprint/gate-check</a:t>
            </a:r>
            <a:r>
              <a:rPr lang="zh-CN" altLang="en-US"/>
              <a:t>，形成</a:t>
            </a:r>
            <a:r>
              <a:rPr lang="en-US" altLang="zh-CN"/>
              <a:t>“</a:t>
            </a:r>
            <a:r>
              <a:rPr lang="zh-CN" altLang="en-US"/>
              <a:t>设计</a:t>
            </a:r>
            <a:r>
              <a:rPr lang="en-US" altLang="zh-CN"/>
              <a:t>-</a:t>
            </a:r>
            <a:r>
              <a:rPr lang="zh-CN" altLang="en-US"/>
              <a:t>实现</a:t>
            </a:r>
            <a:r>
              <a:rPr lang="en-US" altLang="zh-CN"/>
              <a:t>-</a:t>
            </a:r>
            <a:r>
              <a:rPr lang="zh-CN" altLang="en-US"/>
              <a:t>验证</a:t>
            </a:r>
            <a:r>
              <a:rPr lang="en-US" altLang="zh-CN"/>
              <a:t>”</a:t>
            </a:r>
            <a:r>
              <a:rPr lang="zh-CN" altLang="en-US"/>
              <a:t>闭环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263650" y="1585595"/>
            <a:ext cx="7004685" cy="3444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 Vibe Coding </a:t>
            </a:r>
            <a:r>
              <a:rPr lang="zh-CN" altLang="en-US"/>
              <a:t>的正确姿势（不是无序</a:t>
            </a:r>
            <a:r>
              <a:rPr lang="en-US" altLang="zh-CN"/>
              <a:t> Coding</a:t>
            </a:r>
            <a:r>
              <a:rPr lang="zh-CN" altLang="en-US"/>
              <a:t>）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先保留</a:t>
            </a:r>
            <a:r>
              <a:rPr lang="en-US" altLang="zh-CN"/>
              <a:t> vibe</a:t>
            </a:r>
            <a:r>
              <a:rPr lang="zh-CN" altLang="en-US"/>
              <a:t>：快速提炼核心爽点与反体验（例如</a:t>
            </a:r>
            <a:r>
              <a:rPr lang="en-US" altLang="zh-CN"/>
              <a:t>“</a:t>
            </a:r>
            <a:r>
              <a:rPr lang="zh-CN" altLang="en-US"/>
              <a:t>羁绊成型反杀</a:t>
            </a:r>
            <a:r>
              <a:rPr lang="en-US" altLang="zh-CN"/>
              <a:t>”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再结构化</a:t>
            </a:r>
            <a:r>
              <a:rPr lang="en-US" altLang="zh-CN"/>
              <a:t> vibe</a:t>
            </a:r>
            <a:r>
              <a:rPr lang="zh-CN" altLang="en-US"/>
              <a:t>：用系统分解与依赖排序约束实现顺序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最后量化</a:t>
            </a:r>
            <a:r>
              <a:rPr lang="en-US" altLang="zh-CN"/>
              <a:t> vibe</a:t>
            </a:r>
            <a:r>
              <a:rPr lang="zh-CN" altLang="en-US"/>
              <a:t>：把体验目标映射到参数、验收、日志与回放证据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原则：创意可发散，交付必须收敛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405890" y="2518410"/>
            <a:ext cx="68395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Workflow </a:t>
            </a:r>
            <a:r>
              <a:rPr lang="zh-CN" altLang="en-US"/>
              <a:t>设计：三层闭环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设计闭环：</a:t>
            </a:r>
            <a:r>
              <a:rPr lang="en-US" altLang="zh-CN"/>
              <a:t>Concept </a:t>
            </a:r>
            <a:r>
              <a:rPr lang="en-US" altLang="en-US"/>
              <a:t>→</a:t>
            </a:r>
            <a:r>
              <a:rPr lang="en-US" altLang="zh-CN"/>
              <a:t> Systems Index </a:t>
            </a:r>
            <a:r>
              <a:rPr lang="en-US" altLang="en-US"/>
              <a:t>→</a:t>
            </a:r>
            <a:r>
              <a:rPr lang="en-US" altLang="zh-CN"/>
              <a:t> GDD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开发闭环：</a:t>
            </a:r>
            <a:r>
              <a:rPr lang="en-US" altLang="zh-CN"/>
              <a:t>Sprint Plan </a:t>
            </a:r>
            <a:r>
              <a:rPr lang="en-US" altLang="en-US"/>
              <a:t>→</a:t>
            </a:r>
            <a:r>
              <a:rPr lang="en-US" altLang="zh-CN"/>
              <a:t> Must/Should/Nice </a:t>
            </a:r>
            <a:r>
              <a:rPr lang="en-US" altLang="en-US"/>
              <a:t>→</a:t>
            </a:r>
            <a:r>
              <a:rPr lang="en-US" altLang="zh-CN"/>
              <a:t> </a:t>
            </a:r>
            <a:r>
              <a:rPr lang="zh-CN" altLang="en-US"/>
              <a:t>实现与配置外置</a:t>
            </a:r>
            <a:endParaRPr lang="zh-CN" altLang="en-US"/>
          </a:p>
          <a:p>
            <a:r>
              <a:rPr lang="en-US" altLang="zh-CN"/>
              <a:t>- </a:t>
            </a:r>
            <a:r>
              <a:rPr lang="zh-CN" altLang="en-US"/>
              <a:t>质量闭环：</a:t>
            </a:r>
            <a:r>
              <a:rPr lang="en-US" altLang="zh-CN"/>
              <a:t>Smoke Checklist </a:t>
            </a:r>
            <a:r>
              <a:rPr lang="en-US" altLang="en-US"/>
              <a:t>→</a:t>
            </a:r>
            <a:r>
              <a:rPr lang="en-US" altLang="zh-CN"/>
              <a:t> Gate Check </a:t>
            </a:r>
            <a:r>
              <a:rPr lang="en-US" altLang="en-US"/>
              <a:t>→</a:t>
            </a:r>
            <a:r>
              <a:rPr lang="en-US" altLang="zh-CN"/>
              <a:t> DoD Closeout</a:t>
            </a:r>
            <a:endParaRPr lang="en-US" altLang="zh-CN"/>
          </a:p>
          <a:p>
            <a:r>
              <a:rPr lang="en-US" altLang="zh-CN"/>
              <a:t>- </a:t>
            </a:r>
            <a:r>
              <a:rPr lang="zh-CN" altLang="en-US"/>
              <a:t>每层都产出文档证据，避免</a:t>
            </a:r>
            <a:r>
              <a:rPr lang="en-US" altLang="zh-CN"/>
              <a:t>“</a:t>
            </a:r>
            <a:r>
              <a:rPr lang="zh-CN" altLang="en-US"/>
              <a:t>口头完成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>
              <a:buClrTx/>
              <a:buSzTx/>
              <a:buFontTx/>
            </a:pPr>
            <a:r>
              <a:rPr sz="3400"/>
              <a:t>一些好用的工具</a:t>
            </a:r>
            <a:endParaRPr sz="34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buClrTx/>
              <a:buSzTx/>
            </a:pPr>
            <a:r>
              <a:rPr sz="2200">
                <a:solidFill>
                  <a:srgbClr val="00B050"/>
                </a:solidFill>
              </a:rPr>
              <a:t>https://github.com/jnMetaCode/agency-agents-zh/tree/main</a:t>
            </a:r>
            <a:endParaRPr sz="2200">
              <a:solidFill>
                <a:srgbClr val="00B050"/>
              </a:solidFill>
            </a:endParaRPr>
          </a:p>
          <a:p>
            <a:pPr algn="l">
              <a:buClrTx/>
              <a:buSzTx/>
            </a:pPr>
            <a:r>
              <a:rPr sz="2200">
                <a:solidFill>
                  <a:srgbClr val="00B050"/>
                </a:solidFill>
              </a:rPr>
              <a:t>https://github.com/msitarzewski/agency-agents</a:t>
            </a:r>
            <a:endParaRPr sz="2200">
              <a:solidFill>
                <a:srgbClr val="00B050"/>
              </a:solidFill>
            </a:endParaRPr>
          </a:p>
          <a:p>
            <a:pPr algn="l">
              <a:buClrTx/>
              <a:buSzTx/>
            </a:pPr>
            <a:r>
              <a:rPr lang="en-US" altLang="zh-CN" sz="2200">
                <a:gradFill>
                  <a:gsLst>
                    <a:gs pos="42000">
                      <a:srgbClr val="EC5763"/>
                    </a:gs>
                    <a:gs pos="0">
                      <a:srgbClr val="F28F97"/>
                    </a:gs>
                    <a:gs pos="100000">
                      <a:srgbClr val="E51E2E"/>
                    </a:gs>
                  </a:gsLst>
                  <a:lin ang="5400000" scaled="1"/>
                </a:gradFill>
              </a:rPr>
              <a:t>https://glama.ai/mcp/servers</a:t>
            </a:r>
            <a:endParaRPr lang="en-US" altLang="zh-CN" sz="2200">
              <a:gradFill>
                <a:gsLst>
                  <a:gs pos="42000">
                    <a:srgbClr val="EC5763"/>
                  </a:gs>
                  <a:gs pos="0">
                    <a:srgbClr val="F28F97"/>
                  </a:gs>
                  <a:gs pos="100000">
                    <a:srgbClr val="E51E2E"/>
                  </a:gs>
                </a:gsLst>
                <a:lin ang="5400000" scaled="1"/>
              </a:gradFill>
            </a:endParaRPr>
          </a:p>
          <a:p>
            <a:pPr algn="l">
              <a:buClrTx/>
              <a:buSzTx/>
            </a:pPr>
            <a:r>
              <a:rPr lang="en-US" altLang="zh-CN" sz="2200"/>
              <a:t>https://github.com/anthropics/skills</a:t>
            </a:r>
            <a:endParaRPr lang="en-US" altLang="zh-CN" sz="2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/>
              <a:t>总结</a:t>
            </a:r>
            <a:endParaRPr sz="34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sz="2200"/>
              <a:t>Vibe Coding 提升‘速度’，MCP 提升‘执行力’，Skill 决定‘上限’</a:t>
            </a:r>
            <a:endParaRPr sz="2200"/>
          </a:p>
          <a:p>
            <a:endParaRPr sz="2200"/>
          </a:p>
          <a:p>
            <a:pPr marL="0" indent="0">
              <a:buNone/>
            </a:pPr>
            <a:r>
              <a:rPr sz="2200"/>
              <a:t>Q&amp;A</a:t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3368</Words>
  <Application>WPS 演示</Application>
  <PresentationFormat>On-screen Show (4:3)</PresentationFormat>
  <Paragraphs>146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Consolas</vt:lpstr>
      <vt:lpstr>Office Theme</vt:lpstr>
      <vt:lpstr>Vibe Coding × MCP × Skill</vt:lpstr>
      <vt:lpstr>目录</vt:lpstr>
      <vt:lpstr>核心定义（技术语境）</vt:lpstr>
      <vt:lpstr>什么是 Vibe Coding</vt:lpstr>
      <vt:lpstr>Vibe Coding 的边界</vt:lpstr>
      <vt:lpstr>MCP 是什么</vt:lpstr>
      <vt:lpstr>为什么 MCP 很关键</vt:lpstr>
      <vt:lpstr>Skill：你真正需要的能力</vt:lpstr>
      <vt:lpstr>一套落地流程（建议）</vt:lpstr>
      <vt:lpstr>风险与治理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游侠</cp:lastModifiedBy>
  <cp:revision>7</cp:revision>
  <dcterms:created xsi:type="dcterms:W3CDTF">2013-01-27T09:14:00Z</dcterms:created>
  <dcterms:modified xsi:type="dcterms:W3CDTF">2026-03-26T02:39:45Z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459A2EE2B8944450965FFAE28004EB0E_12</vt:lpwstr>
  </property>
</Properties>
</file>